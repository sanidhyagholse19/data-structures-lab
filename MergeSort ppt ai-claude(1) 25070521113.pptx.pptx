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Merge Sort as the classic divide and conquer sorting algorithm. This deck covers the problem, the strategy, the C code, a worked example, test cases and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in one sentence: sort n integers in non-decreasing order, using Merge Sort, which follows the Divide and Conquer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element is already sorted, which is the base case. All of the real work happens in the combine step, the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array is cut at the middle each time. 5 elements become 3 and 2, then 2 and 1, and so on, until every piece has one element. Merging then happens on the way back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mergeSort handles the divide and conquer part. merge handles the combine part. merge works on arr[l..m] and arr[m+1..r], both already sorted.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quadratic sort would need about 10^12 operations for n = 10^6, which is far too slow. Merge Sort needs about 2 x 10^7.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 + (r - l) / 2 for the midpoint to avoid integer overflow on very large indices. The first call is mergeSort(arr, 0, n - 1).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it: n1 and n2 are the sizes of the two halves. Copy each half into temporary arrays L and R. Then compare the fronts and write the smaller one back. Using &lt;= when values tie keeps the sort stable. Finally copy any leftovers and free the temporary memory. The first block matches the template in the editor; the leftover loops and free() complete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mergeSort splits at the midpoint, sorts both halves, then merges. main reads n and the array, calls mergeSort on indices 0 to n-1, and prints the result on one line. The array is allocated on the heap because n can be 10^6. The sample outputs show a trailing space after the last number, which this loop also produces.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 detail: compare -5 with -2, take -5. Then 7 with -2, take -2. Then 7 with -1, take -1. The right half is used up, so 7 and 9 are copied from the left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two sample cases from the problem page. Both outputs are shown on a single line, space separated.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array is halved log2(n) times. At every level, the merges together touch all n elements once. Multiply the two to get n log n. The input order never changes the number of levels, so best, average and worst case are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Stability comes from using &lt;= in merge, so the left element is taken first on a tie. The extra memory is the main cost compared with in-place sorts such as heap 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points,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6652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74240"/>
            <a:ext cx="10566400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6652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74240"/>
            <a:ext cx="10566400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79324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AND ANALYSIS OF ALGORITHMS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245360"/>
            <a:ext cx="10883392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40"/>
              </a:lnSpc>
              <a:buNone/>
            </a:pPr>
            <a:r>
              <a:rPr lang="en-US" sz="8800" b="1" i="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812800" y="362204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dirty="0">
                <a:solidFill>
                  <a:srgbClr val="C9D1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Divide and Conquer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800" y="4292600"/>
            <a:ext cx="71945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1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Sorting n integers in non-decreasing order with a recursive mergeSort() and a merge() routine.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6238240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9B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DAA Activity · Topic 1.1.2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B47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 an array of n integers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77415"/>
            <a:ext cx="3383704" cy="1842770"/>
          </a:xfrm>
          <a:prstGeom prst="roundRect">
            <a:avLst>
              <a:gd name="adj" fmla="val 5341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2680" y="2484120"/>
            <a:ext cx="285340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Given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2680" y="2860040"/>
            <a:ext cx="285340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array of n integers, which may be negative, zero or positive.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9229" y="2177415"/>
            <a:ext cx="3383704" cy="1842770"/>
          </a:xfrm>
          <a:prstGeom prst="roundRect">
            <a:avLst>
              <a:gd name="adj" fmla="val 5341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5933" y="2484120"/>
            <a:ext cx="285340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15933" y="2860040"/>
            <a:ext cx="285340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 it in non-decreasing order using the Merge Sort algorithm.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9307" y="2174240"/>
            <a:ext cx="3379893" cy="1849120"/>
          </a:xfrm>
          <a:prstGeom prst="roundRect">
            <a:avLst>
              <a:gd name="adj" fmla="val 5495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8304107" y="2479040"/>
            <a:ext cx="285340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4107" y="2854960"/>
            <a:ext cx="285340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4E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Divide and Conquer, built from mergeSort() and merge().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B47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STRATEGY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Divide, conquer, combine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77414"/>
            <a:ext cx="3380317" cy="240665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2680" y="2484120"/>
            <a:ext cx="508000" cy="35052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 wrap="square" lIns="75668" tIns="0" rIns="75668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2680" y="2961639"/>
            <a:ext cx="284991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2680" y="3423920"/>
            <a:ext cx="284991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the array at the middle into a left half and a right half.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5842" y="2177414"/>
            <a:ext cx="3380317" cy="240665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2546" y="2484120"/>
            <a:ext cx="508000" cy="35052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 wrap="square" lIns="75668" tIns="0" rIns="75668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12546" y="2961639"/>
            <a:ext cx="284991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Conquer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2546" y="3423920"/>
            <a:ext cx="2849914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 each half recursively until a subarray has a single element.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5708" y="2177414"/>
            <a:ext cx="3380317" cy="2406650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413" y="2484120"/>
            <a:ext cx="508000" cy="35052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 wrap="square" lIns="75668" tIns="0" rIns="75668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02413" y="2961639"/>
            <a:ext cx="284991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02413" y="3423920"/>
            <a:ext cx="28499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the two sorted halves into one sorted array.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RECURSION TREE · TEST CASE 1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72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Splitting 9 -5 7 -2 -1 down to single elements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07560" y="2016761"/>
            <a:ext cx="2976880" cy="523240"/>
          </a:xfrm>
          <a:prstGeom prst="roundRect">
            <a:avLst>
              <a:gd name="adj" fmla="val 14563"/>
            </a:avLst>
          </a:prstGeom>
          <a:solidFill>
            <a:srgbClr val="2233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[9, -5, 7, -2, -1]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91560" y="2692400"/>
            <a:ext cx="1879600" cy="523240"/>
          </a:xfrm>
          <a:prstGeom prst="roundRect">
            <a:avLst>
              <a:gd name="adj" fmla="val 14563"/>
            </a:avLst>
          </a:prstGeom>
          <a:solidFill>
            <a:srgbClr val="2233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[9, -5, 7]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95160" y="2692400"/>
            <a:ext cx="1605280" cy="523240"/>
          </a:xfrm>
          <a:prstGeom prst="roundRect">
            <a:avLst>
              <a:gd name="adj" fmla="val 14563"/>
            </a:avLst>
          </a:prstGeom>
          <a:solidFill>
            <a:srgbClr val="2233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[-2, -1]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64560" y="3368039"/>
            <a:ext cx="1468120" cy="523240"/>
          </a:xfrm>
          <a:prstGeom prst="roundRect">
            <a:avLst>
              <a:gd name="adj" fmla="val 14563"/>
            </a:avLst>
          </a:prstGeom>
          <a:solidFill>
            <a:srgbClr val="2233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[9, -5]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86680" y="3368039"/>
            <a:ext cx="919480" cy="523240"/>
          </a:xfrm>
          <a:prstGeom prst="roundRect">
            <a:avLst>
              <a:gd name="adj" fmla="val 14563"/>
            </a:avLst>
          </a:prstGeom>
          <a:solidFill>
            <a:srgbClr val="2233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[7]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60160" y="3368039"/>
            <a:ext cx="1056640" cy="523240"/>
          </a:xfrm>
          <a:prstGeom prst="roundRect">
            <a:avLst>
              <a:gd name="adj" fmla="val 14563"/>
            </a:avLst>
          </a:prstGeom>
          <a:solidFill>
            <a:srgbClr val="2233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[-2]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70800" y="3368039"/>
            <a:ext cx="1056640" cy="523240"/>
          </a:xfrm>
          <a:prstGeom prst="roundRect">
            <a:avLst>
              <a:gd name="adj" fmla="val 14563"/>
            </a:avLst>
          </a:prstGeom>
          <a:solidFill>
            <a:srgbClr val="22335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[-1]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50908" y="4043680"/>
            <a:ext cx="919480" cy="523240"/>
          </a:xfrm>
          <a:prstGeom prst="roundRect">
            <a:avLst>
              <a:gd name="adj" fmla="val 14563"/>
            </a:avLst>
          </a:prstGeom>
          <a:solidFill>
            <a:srgbClr val="F2A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[9]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4388" y="4043680"/>
            <a:ext cx="1056640" cy="523240"/>
          </a:xfrm>
          <a:prstGeom prst="roundRect">
            <a:avLst>
              <a:gd name="adj" fmla="val 14563"/>
            </a:avLst>
          </a:prstGeom>
          <a:solidFill>
            <a:srgbClr val="F2A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[-5]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35028" y="4180839"/>
            <a:ext cx="3367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1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elements are the base case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9B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9B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B47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USER-DEFINED FUNCTIONS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functions do all the 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77414"/>
            <a:ext cx="5175250" cy="224409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2680" y="2484121"/>
            <a:ext cx="4698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mergeSort()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2680" y="2966721"/>
            <a:ext cx="4698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Recursively divides the array into subarrays until each subarray has a single element.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2680" y="3662679"/>
            <a:ext cx="4561840" cy="452120"/>
          </a:xfrm>
          <a:prstGeom prst="roundRect">
            <a:avLst>
              <a:gd name="adj" fmla="val 11236"/>
            </a:avLst>
          </a:prstGeom>
          <a:solidFill>
            <a:srgbClr val="EDE9DD"/>
          </a:solidFill>
          <a:ln/>
        </p:spPr>
        <p:txBody>
          <a:bodyPr wrap="square" lIns="137521" tIns="86721" rIns="9810" bIns="613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mergeSort(arr, l, 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2177414"/>
            <a:ext cx="5175250" cy="224409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7480" y="2484121"/>
            <a:ext cx="4698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merge()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07480" y="2966721"/>
            <a:ext cx="4698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Merges two sorted subarrays into a single sorted array.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07480" y="3662679"/>
            <a:ext cx="4561840" cy="452120"/>
          </a:xfrm>
          <a:prstGeom prst="roundRect">
            <a:avLst>
              <a:gd name="adj" fmla="val 11236"/>
            </a:avLst>
          </a:prstGeom>
          <a:solidFill>
            <a:srgbClr val="EDE9DD"/>
          </a:solidFill>
          <a:ln/>
        </p:spPr>
        <p:txBody>
          <a:bodyPr wrap="square" lIns="137521" tIns="86721" rIns="9810" bIns="613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merge(arr, l, m, 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729479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l, m and r are the left index, middle index and right index of the current subarray.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B47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INPUT, OUTPUT AND CONSTRAINTS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the program reads and prints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77414"/>
            <a:ext cx="3383704" cy="1969770"/>
          </a:xfrm>
          <a:prstGeom prst="roundRect">
            <a:avLst>
              <a:gd name="adj" fmla="val 4997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433321"/>
            <a:ext cx="295805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809239"/>
            <a:ext cx="2879310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 1: a single integer n, the number of elements</a:t>
            </a:r>
            <a:endParaRPr lang="en-US" sz="1500" dirty="0"/>
          </a:p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 2: n space-separated integers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9229" y="2177414"/>
            <a:ext cx="3383704" cy="1969770"/>
          </a:xfrm>
          <a:prstGeom prst="roundRect">
            <a:avLst>
              <a:gd name="adj" fmla="val 4997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5133" y="2433321"/>
            <a:ext cx="295805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36253" y="2809239"/>
            <a:ext cx="287931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sorted array on a single line</a:t>
            </a:r>
            <a:endParaRPr lang="en-US" sz="1500" dirty="0"/>
          </a:p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space-separated integers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9307" y="2174239"/>
            <a:ext cx="3379893" cy="1976120"/>
          </a:xfrm>
          <a:prstGeom prst="roundRect">
            <a:avLst>
              <a:gd name="adj" fmla="val 5141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8253307" y="2428239"/>
            <a:ext cx="295805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4427" y="2804161"/>
            <a:ext cx="287931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E4E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≤ n ≤ 10</a:t>
            </a:r>
            <a:r>
              <a:rPr lang="en-US" sz="1500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⁶</a:t>
            </a:r>
            <a:endParaRPr lang="en-US" sz="1500" dirty="0"/>
          </a:p>
          <a:p>
            <a:pPr algn="l" marL="182880" indent="-1828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E4E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−10</a:t>
            </a:r>
            <a:r>
              <a:rPr lang="en-US" sz="1500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⁹</a:t>
            </a:r>
            <a:r>
              <a:rPr lang="en-US" sz="1500" dirty="0">
                <a:solidFill>
                  <a:srgbClr val="E4E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≤ element ≤ 10</a:t>
            </a:r>
            <a:r>
              <a:rPr lang="en-US" sz="1500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4455161"/>
            <a:ext cx="98107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Values reach 10⁹ in size, so int is enough, but n up to a million needs an O(n log n) algorithm.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B47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7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Pseudocode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72639"/>
            <a:ext cx="5181600" cy="2298700"/>
          </a:xfrm>
          <a:prstGeom prst="roundRect">
            <a:avLst>
              <a:gd name="adj" fmla="val 442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326639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mergeSort(arr, l, 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6800" y="2694939"/>
            <a:ext cx="4813808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l &lt; r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m = l + (r - l) / 2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mergeSort(arr, l, m)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mergeSort(arr, m + 1, r)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merge(arr, l, m, 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2072639"/>
            <a:ext cx="5181600" cy="2298700"/>
          </a:xfrm>
          <a:prstGeom prst="roundRect">
            <a:avLst>
              <a:gd name="adj" fmla="val 4420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2326639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merge(arr, l, m, r)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51600" y="2694939"/>
            <a:ext cx="4813808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arr[l..m] into L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arr[m+1..r] into R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both L and R have items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take the smaller front item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copy what is left of L, then 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625339"/>
            <a:ext cx="98107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base case is l ≥ r, a subarray of one element, which is already sorted.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 CODE · MERGE()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17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Merging two sorted halves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56079"/>
            <a:ext cx="5181600" cy="3149600"/>
          </a:xfrm>
          <a:prstGeom prst="roundRect">
            <a:avLst>
              <a:gd name="adj" fmla="val 3226"/>
            </a:avLst>
          </a:prstGeom>
          <a:solidFill>
            <a:srgbClr val="0E172B"/>
          </a:solidFill>
          <a:ln/>
        </p:spPr>
        <p:txBody>
          <a:bodyPr wrap="square" lIns="173442" tIns="173442" rIns="30186" bIns="1480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merge(int arr[], int l, int m, int r)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i, j, k;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n1 = m - l + 1;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n2 = r - m;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*L = (int*)malloc(n1 * sizeof(int));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*R = (int*)malloc(n2 * sizeof(int));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for (i = 0; i &lt; n1; i++)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L[i] = arr[l + i];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for (j = 0; j &lt; n2; j++)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R[j] = arr[m + 1 + j];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97600" y="1656079"/>
            <a:ext cx="5181600" cy="3149600"/>
          </a:xfrm>
          <a:prstGeom prst="roundRect">
            <a:avLst>
              <a:gd name="adj" fmla="val 3226"/>
            </a:avLst>
          </a:prstGeom>
          <a:solidFill>
            <a:srgbClr val="0E172B"/>
          </a:solidFill>
          <a:ln/>
        </p:spPr>
        <p:txBody>
          <a:bodyPr wrap="square" lIns="173442" tIns="173442" rIns="30186" bIns="1734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 = 0; j = 0; k = l;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 (i &lt; n1 &amp;&amp; j &lt; n2)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(L[i] &lt;= R[j]) arr[k++] = L[i++];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else arr[k++] = R[j++];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 (i &lt; n1) arr[k++] = L[i++];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 (j &lt; n2) arr[k++] = R[j++];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free(L);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free(R);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9B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9B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5808" y="203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 CODE · MERGESORT() AND MAIN()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17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Recursion and the driver program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56079"/>
            <a:ext cx="5181600" cy="3149600"/>
          </a:xfrm>
          <a:prstGeom prst="roundRect">
            <a:avLst>
              <a:gd name="adj" fmla="val 3226"/>
            </a:avLst>
          </a:prstGeom>
          <a:solidFill>
            <a:srgbClr val="0E172B"/>
          </a:solidFill>
          <a:ln/>
        </p:spPr>
        <p:txBody>
          <a:bodyPr wrap="square" lIns="173442" tIns="173442" rIns="30186" bIns="1734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mergeSort(int arr[], int l, int r)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(l &lt; r)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int m = l + (r - l) / 2;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mergeSort(arr, l, m);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mergeSort(arr, m + 1, r);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merge(arr, l, m, r);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97600" y="1656079"/>
            <a:ext cx="5181600" cy="3149600"/>
          </a:xfrm>
          <a:prstGeom prst="roundRect">
            <a:avLst>
              <a:gd name="adj" fmla="val 3226"/>
            </a:avLst>
          </a:prstGeom>
          <a:solidFill>
            <a:srgbClr val="0E172B"/>
          </a:solidFill>
          <a:ln/>
        </p:spPr>
        <p:txBody>
          <a:bodyPr wrap="square" lIns="173442" tIns="173442" rIns="30186" bIns="14804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main()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n;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scanf("%d", &amp;n);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int *arr = (int*)malloc(n * sizeof(int));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for (int i = 0; i &lt; n; i++)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scanf("%d", &amp;arr[i]);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mergeSort(arr, 0, n - 1);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for (int i = 0; i &lt; n; i++)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printf("%d ", arr[i]);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free(arr);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return 0;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9B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9B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5808" y="203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B47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WORKED EXAMPLE · TEST CASE 1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032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Merging back up the tree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76118"/>
          <a:ext cx="10556240" cy="1917700"/>
        </p:xfrm>
        <a:graphic>
          <a:graphicData uri="http://schemas.openxmlformats.org/drawingml/2006/table">
            <a:tbl>
              <a:tblPr/>
              <a:tblGrid>
                <a:gridCol w="1266749"/>
                <a:gridCol w="4011371"/>
                <a:gridCol w="5278120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Step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Merge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Result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[9] + [-5]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[-5, 9]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[-5, 9] + [7]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[-5, 7, 9]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3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[-2] + [-1]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[-2, -1]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4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[-5, 7, 9] + [-2, -1]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[-5, -2, -1, 7, 9]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122421"/>
            <a:ext cx="98107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Output: </a:t>
            </a:r>
            <a:r>
              <a:rPr lang="en-US" sz="16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-5 -2 -1 7 9</a:t>
            </a:r>
            <a:r>
              <a:rPr lang="en-US" sz="16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matching the expected output.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B47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SAMPLE TEST CASES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7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Inputs and expected outputs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82802"/>
          <a:ext cx="10556240" cy="1230630"/>
        </p:xfrm>
        <a:graphic>
          <a:graphicData uri="http://schemas.openxmlformats.org/drawingml/2006/table">
            <a:tbl>
              <a:tblPr/>
              <a:tblGrid>
                <a:gridCol w="2111248"/>
                <a:gridCol w="1055624"/>
                <a:gridCol w="3694684"/>
                <a:gridCol w="3694684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Test case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n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Array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Output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9 -5 7 -2 -1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-5 -2 -1 7 9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7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2 9 1 6 3 10 7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1 2 3 6 7 9 10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567429"/>
            <a:ext cx="9810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case 1 includes negative numbers. Test case 2 is an odd length with scattered values, so the halves are uneven.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B47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COMPLEXITY ANALYSIS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7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T(n) = 2T(n/2) + O(n)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72642"/>
            <a:ext cx="5181600" cy="1722120"/>
          </a:xfrm>
          <a:prstGeom prst="roundRect">
            <a:avLst>
              <a:gd name="adj" fmla="val 59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326642"/>
            <a:ext cx="481380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646679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 log n)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66800" y="3291842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Best, average and worst case.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7600" y="2072642"/>
            <a:ext cx="5181600" cy="1722120"/>
          </a:xfrm>
          <a:prstGeom prst="roundRect">
            <a:avLst>
              <a:gd name="adj" fmla="val 5900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6451600" y="2326642"/>
            <a:ext cx="481380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1600" y="2646679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O(n)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51600" y="3291842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Temporary arrays L and 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3920" y="4048758"/>
            <a:ext cx="1080465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 n levels of recursion, each level does O(n) work in merge()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n = 10⁶ that is about 2 × 10⁷ steps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B47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PROPERTIES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Strengths and limits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77417"/>
            <a:ext cx="5175250" cy="1899920"/>
          </a:xfrm>
          <a:prstGeom prst="roundRect">
            <a:avLst>
              <a:gd name="adj" fmla="val 5180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2680" y="2484121"/>
            <a:ext cx="469869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Strengths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93800" y="2890521"/>
            <a:ext cx="4619955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Guaranteed O(n log n) time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Stable: equal values keep their order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Suits large inputs and linked lists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2177417"/>
            <a:ext cx="5175250" cy="1899920"/>
          </a:xfrm>
          <a:prstGeom prst="roundRect">
            <a:avLst>
              <a:gd name="adj" fmla="val 5180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480" y="2484121"/>
            <a:ext cx="469869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78600" y="2890521"/>
            <a:ext cx="4619955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Needs O(n) extra memory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in-place for arrays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4506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Slower than quicksort on small arrays in practice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Sort · Divide and Conquer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78689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289808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Divide, sort, merge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56234" y="3102608"/>
            <a:ext cx="9759696" cy="1145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0566" indent="-2105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E4E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mergeSort() splits the array until each piece has one element</a:t>
            </a:r>
            <a:endParaRPr lang="en-US" sz="1800" dirty="0"/>
          </a:p>
          <a:p>
            <a:pPr algn="l" marL="210566" indent="-2105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E4E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merge() combines two sorted halves into one sorted array</a:t>
            </a:r>
            <a:endParaRPr lang="en-US" sz="1800" dirty="0"/>
          </a:p>
          <a:p>
            <a:pPr algn="l" marL="210566" indent="-210566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E4E8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O(n log n) in every case, space O(n)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447675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A9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9B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5808" y="304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Sanidhya Gholse · PRN 25070521113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ge Sort - Divide and Conquer">
  <a:themeElements>
    <a:clrScheme name="Merge Sort - Divide and Conquer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F2A93B"/>
      </a:accent1>
      <a:accent2>
        <a:srgbClr val="B4701A"/>
      </a:accent2>
      <a:accent3>
        <a:srgbClr val="8F9BB8"/>
      </a:accent3>
      <a:accent4>
        <a:srgbClr val="22335C"/>
      </a:accent4>
      <a:accent5>
        <a:srgbClr val="6B7488"/>
      </a:accent5>
      <a:accent6>
        <a:srgbClr val="44506A"/>
      </a:accent6>
      <a:hlink>
        <a:srgbClr val="0563C1"/>
      </a:hlink>
      <a:folHlink>
        <a:srgbClr val="954F72"/>
      </a:folHlink>
    </a:clrScheme>
    <a:fontScheme name="Merge Sort - Divide and Conquer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 - Divide and Conquer</dc:title>
  <dc:subject/>
  <dc:creator/>
  <cp:lastModifiedBy/>
  <cp:revision>1</cp:revision>
  <dcterms:created xsi:type="dcterms:W3CDTF">2026-10-19T14:52:48Z</dcterms:created>
  <dcterms:modified xsi:type="dcterms:W3CDTF">2026-10-19T14:52:48Z</dcterms:modified>
</cp:coreProperties>
</file>